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66" r:id="rId4"/>
    <p:sldId id="258" r:id="rId5"/>
    <p:sldId id="269" r:id="rId19"/>
    <p:sldId id="259" r:id="rId6"/>
    <p:sldId id="260" r:id="rId7"/>
    <p:sldId id="261" r:id="rId8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438B"/>
    <a:srgbClr val="F1806C"/>
    <a:srgbClr val="FDF0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(%)</c:v>
                </c:pt>
              </c:strCache>
            </c:strRef>
          </c:tx>
          <c:spPr>
            <a:solidFill>
              <a:srgbClr val="57438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75-45A9-B698-78CA9A41170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775-45A9-B698-78CA9A41170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775-45A9-B698-78CA9A41170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775-45A9-B698-78CA9A41170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775-45A9-B698-78CA9A41170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D35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HAWK-YOLO</c:v>
                </c:pt>
                <c:pt idx="1">
                  <c:v>EfficientNet-B0</c:v>
                </c:pt>
                <c:pt idx="2">
                  <c:v>YOLO (base)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98.9</c:v>
                </c:pt>
                <c:pt idx="1">
                  <c:v>96.1</c:v>
                </c:pt>
                <c:pt idx="2">
                  <c:v>94.7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775-45A9-B698-78CA9A4117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AB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DDD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A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85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995056"/>
            <a:ext cx="2834640" cy="2834640"/>
          </a:xfrm>
          <a:prstGeom prst="ellipse">
            <a:avLst/>
          </a:prstGeom>
          <a:solidFill>
            <a:srgbClr val="3D2E6E">
              <a:alpha val="70000"/>
            </a:srgbClr>
          </a:solidFill>
          <a:ln w="12700">
            <a:solidFill>
              <a:srgbClr val="3D2E6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80760" y="1047810"/>
            <a:ext cx="2560320" cy="2560320"/>
          </a:xfrm>
          <a:prstGeom prst="rect">
            <a:avLst/>
          </a:prstGeom>
          <a:solidFill>
            <a:srgbClr val="57438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080760" y="1772296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b="1" dirty="0"/>
          </a:p>
        </p:txBody>
      </p:sp>
      <p:sp>
        <p:nvSpPr>
          <p:cNvPr id="6" name="Text 4"/>
          <p:cNvSpPr/>
          <p:nvPr/>
        </p:nvSpPr>
        <p:spPr>
          <a:xfrm>
            <a:off x="6296856" y="435483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II   —   2025 / 2026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6367" t="15828"/>
          <a:stretch>
            <a:fillRect/>
          </a:stretch>
        </p:blipFill>
        <p:spPr>
          <a:xfrm>
            <a:off x="193203" y="180028"/>
            <a:ext cx="2148286" cy="74351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65760" y="1078992"/>
            <a:ext cx="4572000" cy="0"/>
          </a:xfrm>
          <a:prstGeom prst="line">
            <a:avLst/>
          </a:prstGeom>
          <a:noFill/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23444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HAWK Factory</a:t>
            </a:r>
            <a:endParaRPr lang="en-US" sz="4200" dirty="0"/>
          </a:p>
          <a:p>
            <a:pPr marL="0" indent="0">
              <a:buNone/>
            </a:pPr>
            <a:r>
              <a:rPr lang="en-US" sz="17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Defect Detection in Modern Manufacturing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3246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Factory Team    ·    Supervised by: Dr. Sahar Kamal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35844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Cybersecurity  ·  Faculty of Engineering Technology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5394960" cy="297180"/>
          </a:xfrm>
          <a:prstGeom prst="rect">
            <a:avLst/>
          </a:prstGeom>
          <a:solidFill>
            <a:srgbClr val="EEE9F7"/>
          </a:solidFill>
          <a:ln w="1270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7160" y="4846320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 – SUT</a:t>
            </a:r>
          </a:p>
        </p:txBody>
      </p:sp>
      <p:pic>
        <p:nvPicPr>
          <p:cNvPr id="14" name="Picture 13" descr="projlog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417320"/>
            <a:ext cx="2240280" cy="2240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743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777240" y="914400"/>
            <a:ext cx="64008" cy="3291840"/>
          </a:xfrm>
          <a:prstGeom prst="rect">
            <a:avLst/>
          </a:prstGeom>
          <a:solidFill>
            <a:srgbClr val="FFFFFF">
              <a:alpha val="75000"/>
            </a:srgbClr>
          </a:solidFill>
          <a:ln w="12700">
            <a:solidFill>
              <a:srgbClr val="FFFFFF">
                <a:alpha val="7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5840" y="914400"/>
            <a:ext cx="1920240" cy="274320"/>
          </a:xfrm>
          <a:prstGeom prst="rect">
            <a:avLst/>
          </a:prstGeom>
          <a:solidFill>
            <a:srgbClr val="3D2E6E"/>
          </a:solidFill>
          <a:ln w="12700">
            <a:solidFill>
              <a:srgbClr val="3D2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05840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0" cap="none" spc="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HAWK Factory is a deep-learning visual-inspection platform. A custom YOLOv8 model (HAWK-YOLO) detects and localises surface defects on each unit in real time, logs the result, and triggers a servo to reject faulty parts — helping manufacturers and quality-control teams.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05840" y="2670048"/>
            <a:ext cx="502920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1600200" cy="685800"/>
          </a:xfrm>
          <a:prstGeom prst="rect">
            <a:avLst/>
          </a:prstGeom>
          <a:solidFill>
            <a:srgbClr val="3D2E6E"/>
          </a:solidFill>
          <a:ln w="12700">
            <a:solidFill>
              <a:srgbClr val="3D2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834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Members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3218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4BA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Team Size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34640" y="2834640"/>
            <a:ext cx="1600200" cy="685800"/>
          </a:xfrm>
          <a:prstGeom prst="rect">
            <a:avLst/>
          </a:prstGeom>
          <a:solidFill>
            <a:srgbClr val="3D2E6E"/>
          </a:solidFill>
          <a:ln w="12700">
            <a:solidFill>
              <a:srgbClr val="3D2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834640" y="2834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Semesters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834640" y="3218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4BA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1600200" cy="685800"/>
          </a:xfrm>
          <a:prstGeom prst="rect">
            <a:avLst/>
          </a:prstGeom>
          <a:solidFill>
            <a:srgbClr val="3D2E6E"/>
          </a:solidFill>
          <a:ln w="12700">
            <a:solidFill>
              <a:srgbClr val="3D2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YOLOv8 · Python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663440" y="321868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4BA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777240"/>
            <a:ext cx="2331720" cy="3566160"/>
          </a:xfrm>
          <a:prstGeom prst="rect">
            <a:avLst/>
          </a:prstGeom>
          <a:solidFill>
            <a:srgbClr val="3D2E6E">
              <a:alpha val="60000"/>
            </a:srgbClr>
          </a:solidFill>
          <a:ln w="1016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92240" y="19659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3D2E6E"/>
          </a:solidFill>
          <a:ln w="12700">
            <a:solidFill>
              <a:srgbClr val="3D2E6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4BAD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  ·  2025 /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Picture 21" descr="proj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783080"/>
            <a:ext cx="1783080" cy="1783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0" y="804672"/>
            <a:ext cx="256032" cy="4338828"/>
          </a:xfrm>
          <a:prstGeom prst="rect">
            <a:avLst/>
          </a:prstGeom>
          <a:solidFill>
            <a:srgbClr val="F5F3FB"/>
          </a:solidFill>
          <a:ln w="1270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8912" y="1380744"/>
            <a:ext cx="530352" cy="530352"/>
          </a:xfrm>
          <a:prstGeom prst="ellipse">
            <a:avLst/>
          </a:prstGeom>
          <a:solidFill>
            <a:srgbClr val="EEE9F7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912" y="1380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6B54A8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6B54A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13624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7280" y="16550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project team and supervisor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2121408"/>
            <a:ext cx="3456432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" y="224942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22311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2523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we are addressing and why it matters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97280" y="2990088"/>
            <a:ext cx="3456432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8912" y="311810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8912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" y="309981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33924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approach, key features and components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" y="3858768"/>
            <a:ext cx="3456432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398678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38912" y="3986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97280" y="396849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97280" y="426110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design, methodology and tools used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64608" y="138074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64608" y="13807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522976" y="136245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Screenshots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522976" y="165506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 of the working system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522976" y="2121408"/>
            <a:ext cx="3456432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64608" y="224942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64608" y="22494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522976" y="223113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522976" y="252374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metrics, testing outcomes and analysis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522976" y="2990088"/>
            <a:ext cx="3456432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864608" y="3118104"/>
            <a:ext cx="530352" cy="530352"/>
          </a:xfrm>
          <a:prstGeom prst="ellipse">
            <a:avLst/>
          </a:prstGeom>
          <a:solidFill>
            <a:srgbClr val="EEE9F7"/>
          </a:solidFill>
          <a:ln w="15240">
            <a:solidFill>
              <a:srgbClr val="57438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64608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7438B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22976" y="3099816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3D3535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522976" y="33924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7A6868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phases, milestones and deliverables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987552"/>
            <a:ext cx="0" cy="3931920"/>
          </a:xfrm>
          <a:prstGeom prst="line">
            <a:avLst/>
          </a:prstGeom>
          <a:noFill/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5F3FB"/>
          </a:solidFill>
          <a:ln w="6350">
            <a:solidFill>
              <a:srgbClr val="DDD8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20040" y="4846320"/>
            <a:ext cx="850392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B8ABA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  —  2025 / 2026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Marwa Mohamed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240102975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4203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4203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4203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01752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0604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Norhan Rafik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0604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240102862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659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3659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21208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0060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Doha Ramy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240102408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3115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3115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3115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40664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0664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951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Alaa Adel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9516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230105740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3232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9516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" y="4261104"/>
            <a:ext cx="8449056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" y="438912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 Dr. Sahar Kamal    |    Faculty of Engineering Technology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0" y="804672"/>
            <a:ext cx="256032" cy="4338828"/>
          </a:xfrm>
          <a:prstGeom prst="rect">
            <a:avLst/>
          </a:prstGeom>
          <a:solidFill>
            <a:srgbClr val="EEE9F7"/>
          </a:solidFill>
          <a:ln w="1270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" y="960120"/>
            <a:ext cx="1463040" cy="27432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8912" y="960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" y="135331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D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lines must inspect thousands of units per hour, yet defects appear in endless forms. Manual inspection fatigues and is inconsistent, while rule-based vision is sensitive to lighting and fails silently on defects it was never tuned for.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8912" y="24871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" y="2788920"/>
            <a:ext cx="4069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3D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Undetected defects reach the customer — causing scrap, rework, recalls and lost trust.</a:t>
            </a:r>
            <a:r>
              <a:rPr lang="en-US" sz="11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D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checking cannot keep pace with high-throughput, high-precision production.</a:t>
            </a:r>
            <a:r>
              <a:rPr lang="en-US" sz="11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3D3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Industry 4.0, quality is a condition of survival, not just a competitive advantage.</a:t>
            </a:r>
            <a:r>
              <a:rPr lang="en-US" sz="11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0" cy="3931920"/>
          </a:xfrm>
          <a:prstGeom prst="line">
            <a:avLst/>
          </a:prstGeom>
          <a:noFill/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56048" y="960120"/>
            <a:ext cx="3840480" cy="274320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56048" y="18288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956048" y="3840480"/>
            <a:ext cx="1188720" cy="100584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56048" y="3840480"/>
            <a:ext cx="1188720" cy="54864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56048" y="38953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1000s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56048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/ hour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36208" y="3840480"/>
            <a:ext cx="1188720" cy="100584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36208" y="3840480"/>
            <a:ext cx="1188720" cy="54864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36208" y="38953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36208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goal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516368" y="3840480"/>
            <a:ext cx="1188720" cy="100584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16368" y="3840480"/>
            <a:ext cx="1188720" cy="54864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16368" y="389534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516368" y="44622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operation</a:t>
            </a:r>
            <a:endParaRPr lang="en-US" sz="850" dirty="0"/>
          </a:p>
        </p:txBody>
      </p:sp>
      <p:pic>
        <p:nvPicPr>
          <p:cNvPr id="28" name="Picture 27" descr="h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417320"/>
            <a:ext cx="1284732" cy="2286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HAWK Factory inspects every unit on the line in real time and automatically rejects the defective ones — using a custom-trained deep-learning detector on low-cost hardware.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38988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EF"/>
            </a:solidFill>
            <a:prstDash val="solid"/>
          </a:ln>
          <a:effectLst>
            <a:outerShdw blurRad="101600" dist="25400" dir="8100000" algn="bl" rotWithShape="0">
              <a:srgbClr val="9080BC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2633472" cy="114300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225296" y="153619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25296" y="1536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HAWK-YOLO Detector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25296" y="3090672"/>
            <a:ext cx="914400" cy="36576"/>
          </a:xfrm>
          <a:prstGeom prst="rect">
            <a:avLst/>
          </a:prstGeom>
          <a:solidFill>
            <a:srgbClr val="C4BADF"/>
          </a:solidFill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3218688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YOLOv8 model that both classifies each unit and localises its defect, at about 35 ms per image.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EF"/>
            </a:solidFill>
            <a:prstDash val="solid"/>
          </a:ln>
          <a:effectLst>
            <a:outerShdw blurRad="101600" dist="25400" dir="8100000" algn="bl" rotWithShape="0">
              <a:srgbClr val="9080BC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389888"/>
            <a:ext cx="2633472" cy="114300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59936" y="153619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59936" y="1536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◉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26517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 Platform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059936" y="3090672"/>
            <a:ext cx="914400" cy="36576"/>
          </a:xfrm>
          <a:prstGeom prst="rect">
            <a:avLst/>
          </a:prstGeom>
          <a:solidFill>
            <a:srgbClr val="C4BADF"/>
          </a:solidFill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3218688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Multi-camera, multi-tenant app with a bilingual dashboard, a REST API and a database — usable by non-specialists.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138988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EF"/>
            </a:solidFill>
            <a:prstDash val="solid"/>
          </a:ln>
          <a:effectLst>
            <a:outerShdw blurRad="101600" dist="25400" dir="8100000" algn="bl" rotWithShape="0">
              <a:srgbClr val="9080BC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35040" y="1389888"/>
            <a:ext cx="2633472" cy="114300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894576" y="1536192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94576" y="15361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◎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26480" y="2651760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Reject Station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94576" y="3090672"/>
            <a:ext cx="914400" cy="36576"/>
          </a:xfrm>
          <a:prstGeom prst="rect">
            <a:avLst/>
          </a:prstGeom>
          <a:solidFill>
            <a:srgbClr val="C4BADF"/>
          </a:solidFill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44768" y="3218688"/>
            <a:ext cx="241401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rotating-disc station with an overhead camera and an Arduino-driven servo that sweeps out defective parts.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&amp; METHODOLOGY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411480" cy="411480"/>
          </a:xfrm>
          <a:prstGeom prst="ellipse">
            <a:avLst/>
          </a:prstGeom>
          <a:solidFill>
            <a:srgbClr val="57438B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3212" y="1399032"/>
            <a:ext cx="0" cy="475488"/>
          </a:xfrm>
          <a:prstGeom prst="line">
            <a:avLst/>
          </a:prstGeom>
          <a:noFill/>
          <a:ln w="1905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9875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261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industrial datasets (MVTec AD, NEU, DAGM 2007, KolektorSDD) plus in-house product imagery.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874520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7472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" y="2286000"/>
            <a:ext cx="0" cy="475488"/>
          </a:xfrm>
          <a:prstGeom prst="line">
            <a:avLst/>
          </a:prstGeom>
          <a:noFill/>
          <a:ln w="1905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1874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Resizing, normalisation and augmentation, with transfer learning.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" y="2761488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" y="2761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3212" y="3172968"/>
            <a:ext cx="0" cy="475488"/>
          </a:xfrm>
          <a:prstGeom prst="line">
            <a:avLst/>
          </a:prstGeom>
          <a:noFill/>
          <a:ln w="1905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27614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Model — HAWK-YOLO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035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YOLOv8 detector, benchmarked against CNN, MobileNet and EfficientNet-B0.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648456"/>
            <a:ext cx="411480" cy="4114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7472" y="3648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6484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&amp;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922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dashboard, REST API, database log and PLC / Arduino reject.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41648" y="932688"/>
            <a:ext cx="0" cy="3931920"/>
          </a:xfrm>
          <a:prstGeom prst="line">
            <a:avLst/>
          </a:prstGeom>
          <a:noFill/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24528" y="932688"/>
            <a:ext cx="4572000" cy="3456432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224528" y="202996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224528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24528" y="47365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/ YOLOv8  ·  OpenCV  ·  Flask  ·  SQLite</a:t>
            </a:r>
            <a:endParaRPr lang="en-US" sz="950" dirty="0"/>
          </a:p>
        </p:txBody>
      </p:sp>
      <p:pic>
        <p:nvPicPr>
          <p:cNvPr id="31" name="Picture 30" descr="ar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554480"/>
            <a:ext cx="4069080" cy="23919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SCREENSHOTS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03520" y="4663440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74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Live demo available during presentation</a:t>
            </a:r>
            <a:endParaRPr lang="en-US" sz="950" dirty="0"/>
          </a:p>
        </p:txBody>
      </p:sp>
      <p:pic>
        <p:nvPicPr>
          <p:cNvPr id="22" name="Picture 21" descr="d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4617720" cy="2793721"/>
          </a:xfrm>
          <a:prstGeom prst="rect">
            <a:avLst/>
          </a:prstGeom>
        </p:spPr>
      </p:pic>
      <p:pic>
        <p:nvPicPr>
          <p:cNvPr id="23" name="Picture 22" descr="das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6360" y="1417320"/>
            <a:ext cx="3611880" cy="19142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760" y="416052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A"/>
                </a:solidFill>
              </a:rPr>
              <a:t>HAWK-YOLO live detection — PASS vs REJECT (fracture localised on the handle)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3429000"/>
            <a:ext cx="3611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44444A"/>
                </a:solidFill>
              </a:rPr>
              <a:t>HAWK Factory dashboard — device stats, defect rate &amp; profit calculator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&amp; EVALUATION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932688"/>
            <a:ext cx="2606040" cy="132588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9326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98.9%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" y="1801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 (HAWK-YOLO)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82112" y="932688"/>
            <a:ext cx="2606040" cy="132588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82112" y="9326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0.985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182112" y="1801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16752" y="932688"/>
            <a:ext cx="2606040" cy="1325880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16752" y="9326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~35 ms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016752" y="180136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E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/ image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1728905450"/>
              </p:ext>
            </p:extLst>
          </p:nvPr>
        </p:nvGraphicFramePr>
        <p:xfrm>
          <a:off x="347472" y="2423160"/>
          <a:ext cx="8449056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TIMELINE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23544" y="2770632"/>
            <a:ext cx="7607808" cy="73152"/>
          </a:xfrm>
          <a:prstGeom prst="rect">
            <a:avLst/>
          </a:prstGeom>
          <a:solidFill>
            <a:srgbClr val="C4BADF"/>
          </a:solidFill>
          <a:ln w="1270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0604" y="1115568"/>
            <a:ext cx="1325880" cy="246888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" y="11155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3444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" y="2103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23544" y="2340864"/>
            <a:ext cx="0" cy="292608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" y="26334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23544" y="2980944"/>
            <a:ext cx="0" cy="256032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" y="32735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62556" y="1115568"/>
            <a:ext cx="1325880" cy="246888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162556" y="11155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5396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62556" y="2103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25496" y="2340864"/>
            <a:ext cx="0" cy="292608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651760" y="26334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825496" y="2980944"/>
            <a:ext cx="0" cy="256032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071116" y="32735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4508" y="1115568"/>
            <a:ext cx="1325880" cy="246888"/>
          </a:xfrm>
          <a:prstGeom prst="rect">
            <a:avLst/>
          </a:prstGeom>
          <a:solidFill>
            <a:srgbClr val="57438B"/>
          </a:solidFill>
          <a:ln w="762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064508" y="11155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927348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064508" y="2103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5–8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27448" y="2340864"/>
            <a:ext cx="0" cy="292608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53712" y="2633472"/>
            <a:ext cx="347472" cy="347472"/>
          </a:xfrm>
          <a:prstGeom prst="ellipse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45152" y="2724912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45152" y="2724912"/>
            <a:ext cx="164592" cy="164592"/>
          </a:xfrm>
          <a:prstGeom prst="ellipse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27448" y="2980944"/>
            <a:ext cx="0" cy="256032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973068" y="32735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74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743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66460" y="1115568"/>
            <a:ext cx="1325880" cy="246888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966460" y="11155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29300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966460" y="2103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9–10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629400" y="2340864"/>
            <a:ext cx="0" cy="292608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455664" y="26334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29400" y="2980944"/>
            <a:ext cx="0" cy="256032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875020" y="32735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868412" y="1115568"/>
            <a:ext cx="1325880" cy="246888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868412" y="111556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1252" y="14173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Demo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68412" y="210312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11–12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531352" y="2340864"/>
            <a:ext cx="0" cy="292608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57616" y="2633472"/>
            <a:ext cx="347472" cy="3474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531352" y="2980944"/>
            <a:ext cx="0" cy="256032"/>
          </a:xfrm>
          <a:prstGeom prst="line">
            <a:avLst/>
          </a:prstGeom>
          <a:noFill/>
          <a:ln w="1016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776972" y="327355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743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5943600" cy="5943600"/>
          </a:xfrm>
          <a:prstGeom prst="ellipse">
            <a:avLst/>
          </a:prstGeom>
          <a:solidFill>
            <a:srgbClr val="3D2E6E">
              <a:alpha val="70000"/>
            </a:srgbClr>
          </a:solidFill>
          <a:ln w="12700">
            <a:solidFill>
              <a:srgbClr val="3D2E6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3D2E6E">
              <a:alpha val="60000"/>
            </a:srgbClr>
          </a:solidFill>
          <a:ln w="12700">
            <a:solidFill>
              <a:srgbClr val="3D2E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914400" y="1325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Shape 3"/>
          <p:cNvSpPr/>
          <p:nvPr/>
        </p:nvSpPr>
        <p:spPr>
          <a:xfrm>
            <a:off x="3200400" y="2487168"/>
            <a:ext cx="274320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828800" y="26334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34015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 sahar.kamal@sut.edu.eg      ·      QMS:  qms.sut.edu.eg/web/projects/view/70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4617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Sewedy University of Technology  ·  2025 / 2026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11480" y="4754880"/>
            <a:ext cx="68580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4096512"/>
            <a:ext cx="0" cy="658368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046720" y="4754880"/>
            <a:ext cx="685800" cy="0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732520" y="4096512"/>
            <a:ext cx="0" cy="658368"/>
          </a:xfrm>
          <a:prstGeom prst="line">
            <a:avLst/>
          </a:prstGeom>
          <a:noFill/>
          <a:ln w="1905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9298C4-877E-E585-0F50-4F610A8B1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842" y="457200"/>
            <a:ext cx="1775073" cy="6864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804672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0"/>
            <a:ext cx="594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E9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0"/>
            <a:ext cx="6858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0" y="0"/>
            <a:ext cx="914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747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2296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Mahmoud Kamal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230105825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Cyber Security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54203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54203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4203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01752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01752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60604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Mohamed Abdelrazek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60604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240102743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0604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Cyber Security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3659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3659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3659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521208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0060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Noor Hany Ragb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240101062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Member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0060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Cyber Security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31152" y="960120"/>
            <a:ext cx="1865376" cy="3090672"/>
          </a:xfrm>
          <a:prstGeom prst="rect">
            <a:avLst/>
          </a:prstGeom>
          <a:solidFill>
            <a:srgbClr val="FFFFFF"/>
          </a:solidFill>
          <a:ln w="7620">
            <a:solidFill>
              <a:srgbClr val="DDD8EF"/>
            </a:solidFill>
            <a:prstDash val="solid"/>
          </a:ln>
          <a:effectLst>
            <a:outerShdw blurRad="152400" dist="38100" dir="8100000" algn="bl" rotWithShape="0">
              <a:srgbClr val="57438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931152" y="960120"/>
            <a:ext cx="1865376" cy="658368"/>
          </a:xfrm>
          <a:prstGeom prst="rect">
            <a:avLst/>
          </a:prstGeom>
          <a:solidFill>
            <a:srgbClr val="57438B"/>
          </a:solidFill>
          <a:ln w="1270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31152" y="960120"/>
            <a:ext cx="186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7406640" y="1307592"/>
            <a:ext cx="914400" cy="914400"/>
          </a:xfrm>
          <a:prstGeom prst="ellipse">
            <a:avLst/>
          </a:prstGeom>
          <a:solidFill>
            <a:srgbClr val="EEE9F7"/>
          </a:solidFill>
          <a:ln w="19050">
            <a:solidFill>
              <a:srgbClr val="5743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06640" y="13075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995160" y="2377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D35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995160" y="272491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6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32320" y="3081528"/>
            <a:ext cx="1463040" cy="274320"/>
          </a:xfrm>
          <a:prstGeom prst="rect">
            <a:avLst/>
          </a:prstGeom>
          <a:solidFill>
            <a:srgbClr val="EEE9F7"/>
          </a:solidFill>
          <a:ln w="7620">
            <a:solidFill>
              <a:srgbClr val="C4BA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32320" y="30815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80" dirty="0">
                <a:solidFill>
                  <a:srgbClr val="5743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/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95160" y="347472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47472" y="4261104"/>
            <a:ext cx="8449056" cy="0"/>
          </a:xfrm>
          <a:prstGeom prst="line">
            <a:avLst/>
          </a:prstGeom>
          <a:noFill/>
          <a:ln w="7620">
            <a:solidFill>
              <a:srgbClr val="DDD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7472" y="438912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AB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 Dr. Sahar Kamal    |    Faculty of Engineering Technology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682</Words>
  <Application>Microsoft Office PowerPoint</Application>
  <PresentationFormat>On-screen Show (16:9)</PresentationFormat>
  <Paragraphs>178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Mariam Labib Francies</cp:lastModifiedBy>
  <cp:revision>6</cp:revision>
  <dcterms:created xsi:type="dcterms:W3CDTF">2026-05-19T12:12:59Z</dcterms:created>
  <dcterms:modified xsi:type="dcterms:W3CDTF">2026-05-20T09:34:20Z</dcterms:modified>
</cp:coreProperties>
</file>